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436" r:id="rId3"/>
    <p:sldId id="426" r:id="rId4"/>
    <p:sldId id="407" r:id="rId5"/>
    <p:sldId id="428" r:id="rId6"/>
    <p:sldId id="434" r:id="rId7"/>
    <p:sldId id="435" r:id="rId8"/>
    <p:sldId id="415" r:id="rId9"/>
    <p:sldId id="437" r:id="rId10"/>
    <p:sldId id="427" r:id="rId11"/>
  </p:sldIdLst>
  <p:sldSz cx="18288000" cy="10287000"/>
  <p:notesSz cx="68580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684158-E8C8-9BE0-21EB-718D906F94A5}" name="George Mount" initials="GM" userId="S::george@stringfestanalytics.com::22d0b802-afc6-4b8f-ba57-7a855d9692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orge Mount" initials="GM" lastIdx="9" clrIdx="0">
    <p:extLst>
      <p:ext uri="{19B8F6BF-5375-455C-9EA6-DF929625EA0E}">
        <p15:presenceInfo xmlns:p15="http://schemas.microsoft.com/office/powerpoint/2012/main" userId="57d2ab2a84d54c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3338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78463" autoAdjust="0"/>
  </p:normalViewPr>
  <p:slideViewPr>
    <p:cSldViewPr>
      <p:cViewPr varScale="1">
        <p:scale>
          <a:sx n="46" d="100"/>
          <a:sy n="46" d="100"/>
        </p:scale>
        <p:origin x="40" y="1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A98A70-FA8C-4354-959C-C70678AC9BCF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500C5-13F7-48FC-8160-C29AECF6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50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49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29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5532-326F-4669-1CB2-DA7AFD783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F669E7-8D85-DEB6-7D4D-FA8E8268D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F375F-294F-03AB-52EE-36A85AF9F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7E0FB-DBB2-3D20-1323-ADC2F3DB1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505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948FC-8E31-57A5-1572-2BD51435B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FBA2C-8C25-ED84-25F8-72C4EE9740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7E3F8-F267-4C16-DA32-D9FBC5B291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117B97-59E7-F89F-5A8E-93001789E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29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tringfestdata.gumroad.com/l/mxlais" TargetMode="External"/><Relationship Id="rId2" Type="http://schemas.openxmlformats.org/officeDocument/2006/relationships/hyperlink" Target="https://github.com/stringfestdata/first-steps-with-power-apps-for-excel-users/archive/refs/heads/main.zip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42796" y="4850092"/>
            <a:ext cx="4745204" cy="54358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0" y="-3440159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First steps with Power Apps for Excel users</a:t>
            </a:r>
          </a:p>
        </p:txBody>
      </p:sp>
      <p:sp>
        <p:nvSpPr>
          <p:cNvPr id="2" name="AutoShape 2" descr="Home | Full Stack Modeller">
            <a:extLst>
              <a:ext uri="{FF2B5EF4-FFF2-40B4-BE49-F238E27FC236}">
                <a16:creationId xmlns:a16="http://schemas.microsoft.com/office/drawing/2014/main" id="{6CCAA77C-4E76-640C-066C-F3E39EE1AC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9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/>
          <p:cNvSpPr txBox="1"/>
          <p:nvPr/>
        </p:nvSpPr>
        <p:spPr>
          <a:xfrm>
            <a:off x="781292" y="590309"/>
            <a:ext cx="1548692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I help Excel users move from fragile spreadsheets</a:t>
            </a:r>
          </a:p>
          <a:p>
            <a:r>
              <a:rPr lang="en-US" sz="4400" b="1" dirty="0">
                <a:solidFill>
                  <a:schemeClr val="bg1"/>
                </a:solidFill>
              </a:rPr>
              <a:t>to confident, scalable analysis.</a:t>
            </a:r>
          </a:p>
        </p:txBody>
      </p:sp>
      <p:pic>
        <p:nvPicPr>
          <p:cNvPr id="3" name="Picture 4" descr="Advancing into Analytics Cover Image">
            <a:extLst>
              <a:ext uri="{FF2B5EF4-FFF2-40B4-BE49-F238E27FC236}">
                <a16:creationId xmlns:a16="http://schemas.microsoft.com/office/drawing/2014/main" id="{588F684B-18EF-D76C-5F7B-15E4BAD60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7075" y="195640"/>
            <a:ext cx="3130385" cy="408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Free photos of Cleveland">
            <a:extLst>
              <a:ext uri="{FF2B5EF4-FFF2-40B4-BE49-F238E27FC236}">
                <a16:creationId xmlns:a16="http://schemas.microsoft.com/office/drawing/2014/main" id="{CBA53EEE-E3E1-D99E-A4DC-1C4DD2E6C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692" y="2968810"/>
            <a:ext cx="5535359" cy="3684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  Description automatically generated">
            <a:extLst>
              <a:ext uri="{FF2B5EF4-FFF2-40B4-BE49-F238E27FC236}">
                <a16:creationId xmlns:a16="http://schemas.microsoft.com/office/drawing/2014/main" id="{97E0F267-87DF-961E-1FAA-47FD4F27A5C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691" y="6002696"/>
            <a:ext cx="7448309" cy="5462681"/>
          </a:xfrm>
          <a:prstGeom prst="rect">
            <a:avLst/>
          </a:prstGeom>
        </p:spPr>
      </p:pic>
      <p:pic>
        <p:nvPicPr>
          <p:cNvPr id="1026" name="Picture 2" descr="Modern data analytics in Excel book cover">
            <a:extLst>
              <a:ext uri="{FF2B5EF4-FFF2-40B4-BE49-F238E27FC236}">
                <a16:creationId xmlns:a16="http://schemas.microsoft.com/office/drawing/2014/main" id="{874ADA5E-A7A7-1D02-C728-513187DE1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1136" y="2210054"/>
            <a:ext cx="3437261" cy="450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icrosoft Most Valuable Professional - Wikipedia">
            <a:extLst>
              <a:ext uri="{FF2B5EF4-FFF2-40B4-BE49-F238E27FC236}">
                <a16:creationId xmlns:a16="http://schemas.microsoft.com/office/drawing/2014/main" id="{36C71929-5967-B93D-05FE-E330D621C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42" y="7832951"/>
            <a:ext cx="5057775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Thais Cooke on LinkedIn: #linkedinlearninginstructor #linkedinlearning | 82  comments">
            <a:extLst>
              <a:ext uri="{FF2B5EF4-FFF2-40B4-BE49-F238E27FC236}">
                <a16:creationId xmlns:a16="http://schemas.microsoft.com/office/drawing/2014/main" id="{2E3C0D6C-F7C9-F3C4-3BAA-FF34E086E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0" y="5312978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6024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Objectives for this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Create a Power App using Excel as a data source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Customize Power App interface for better user experience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Deploy and share your Power App within an organization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7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6438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Creating a Power App from Excel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Upload Excel table to Power Apps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Create basic three-screen app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Add and edit records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Preview app in development</a:t>
            </a: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File: </a:t>
            </a:r>
            <a:r>
              <a:rPr lang="en-US" sz="3600" dirty="0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first-power-app.xlsx</a:t>
            </a:r>
          </a:p>
        </p:txBody>
      </p:sp>
    </p:spTree>
    <p:extLst>
      <p:ext uri="{BB962C8B-B14F-4D97-AF65-F5344CB8AC3E}">
        <p14:creationId xmlns:p14="http://schemas.microsoft.com/office/powerpoint/2010/main" val="3871531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5186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Modifying your Power App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r>
              <a:rPr lang="en-US" sz="4200" dirty="0">
                <a:solidFill>
                  <a:srgbClr val="CF3338"/>
                </a:solidFill>
                <a:latin typeface="Pragmatica" panose="020B0403040502020204" pitchFamily="34" charset="0"/>
              </a:rPr>
              <a:t>Continuing with our example: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Adding required fields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Creating data validation dropdowns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Creating data validation on date ranges</a:t>
            </a: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3200" kern="100" dirty="0">
              <a:solidFill>
                <a:srgbClr val="CF3338"/>
              </a:solidFill>
              <a:effectLst/>
              <a:latin typeface="Pragmatica" panose="020B0403040502020204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221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679BB-E487-A9E3-1278-DBD7FB7F1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8E3D40-A823-8428-6682-B724027EAF41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24E154-15C4-0B23-E9C5-29E2DD4973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343823-9545-2632-2777-4994B59C3581}"/>
              </a:ext>
            </a:extLst>
          </p:cNvPr>
          <p:cNvSpPr txBox="1"/>
          <p:nvPr/>
        </p:nvSpPr>
        <p:spPr>
          <a:xfrm>
            <a:off x="260431" y="329879"/>
            <a:ext cx="8906720" cy="4897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Deploying your Power App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r>
              <a:rPr lang="en-US" sz="4200" dirty="0">
                <a:solidFill>
                  <a:srgbClr val="CF3338"/>
                </a:solidFill>
                <a:latin typeface="Pragmatica" panose="020B0403040502020204" pitchFamily="34" charset="0"/>
              </a:rPr>
              <a:t>Continuing with our example:</a:t>
            </a:r>
          </a:p>
          <a:p>
            <a:endParaRPr lang="en-US" sz="60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Preparing Excel workbook for external use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Migrating our app from development to production via ZIP folder</a:t>
            </a:r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953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0A7D7-7C73-6748-ED7C-823D116B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F099B0-C241-9D8F-6F66-8DF3A6C8C78C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009866-9C2D-166E-C0AF-AFB64B0A7C5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D3EED5-4019-81EE-EB75-DDA5FF2D412E}"/>
              </a:ext>
            </a:extLst>
          </p:cNvPr>
          <p:cNvSpPr txBox="1"/>
          <p:nvPr/>
        </p:nvSpPr>
        <p:spPr>
          <a:xfrm>
            <a:off x="260431" y="329879"/>
            <a:ext cx="8906720" cy="4528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Creating a Power App with images</a:t>
            </a:r>
          </a:p>
          <a:p>
            <a:endParaRPr lang="en-US" sz="60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effectLst/>
                <a:latin typeface="Pragmatica" panose="020B0403040502020204"/>
                <a:ea typeface="Aptos" panose="020B0004020202020204" pitchFamily="34" charset="0"/>
                <a:cs typeface="Times New Roman" panose="02020603050405020304" pitchFamily="18" charset="0"/>
              </a:rPr>
              <a:t>File: power-apps-challenge.xlsx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latin typeface="Pragmatica" panose="020B0403040502020204"/>
                <a:cs typeface="Times New Roman" panose="02020603050405020304" pitchFamily="18" charset="0"/>
              </a:rPr>
              <a:t>Turn this into an app with photos!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3200" kern="100" dirty="0">
                <a:solidFill>
                  <a:srgbClr val="CF3338"/>
                </a:solidFill>
                <a:latin typeface="Pragmatica" panose="020B0403040502020204"/>
                <a:cs typeface="Times New Roman" panose="02020603050405020304" pitchFamily="18" charset="0"/>
              </a:rPr>
              <a:t>Use image URLs to populate values</a:t>
            </a:r>
          </a:p>
        </p:txBody>
      </p:sp>
    </p:spTree>
    <p:extLst>
      <p:ext uri="{BB962C8B-B14F-4D97-AF65-F5344CB8AC3E}">
        <p14:creationId xmlns:p14="http://schemas.microsoft.com/office/powerpoint/2010/main" val="2789196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60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3157F-6EBE-9C2B-27A0-9678E9F65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110C409-BE3A-C40E-0EC2-5427EA5208F2}"/>
              </a:ext>
            </a:extLst>
          </p:cNvPr>
          <p:cNvSpPr txBox="1"/>
          <p:nvPr/>
        </p:nvSpPr>
        <p:spPr>
          <a:xfrm>
            <a:off x="520861" y="170082"/>
            <a:ext cx="11979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Post-session logistics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DFDE40-FD16-A6BC-70CA-D3D86DEBE370}"/>
              </a:ext>
            </a:extLst>
          </p:cNvPr>
          <p:cNvSpPr txBox="1"/>
          <p:nvPr/>
        </p:nvSpPr>
        <p:spPr>
          <a:xfrm>
            <a:off x="609600" y="1943100"/>
            <a:ext cx="9525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Course downloads will remain up at </a:t>
            </a: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  <a:hlinkClick r:id="rId2"/>
              </a:rPr>
              <a:t>https://github.com/stringfestdata/first-steps-with-power-apps-for-excel-users/archive/refs/heads/main.zip</a:t>
            </a: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Recording is available at </a:t>
            </a: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  <a:hlinkClick r:id="rId3"/>
              </a:rPr>
              <a:t>https://stringfestdata.gumroad.com/l/mxlais</a:t>
            </a:r>
            <a:endParaRPr lang="en-US" sz="4200" dirty="0">
              <a:solidFill>
                <a:srgbClr val="707070"/>
              </a:solidFill>
              <a:latin typeface="Pragmatica" panose="020B0403040502020204" pitchFamily="34" charset="0"/>
            </a:endParaRPr>
          </a:p>
          <a:p>
            <a:pPr marL="1600200" lvl="2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Get first week free</a:t>
            </a:r>
          </a:p>
          <a:p>
            <a:pPr marL="1600200" lvl="2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Join first month for $1 with code (email)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0F306F67-3E73-4B1D-AEA9-7056D9BF25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  <p:pic>
        <p:nvPicPr>
          <p:cNvPr id="2" name="Picture 1" descr="The Modern Excel AI Stack&#10;&#10;AI-generated content may be incorrect.">
            <a:extLst>
              <a:ext uri="{FF2B5EF4-FFF2-40B4-BE49-F238E27FC236}">
                <a16:creationId xmlns:a16="http://schemas.microsoft.com/office/drawing/2014/main" id="{36D6E364-A9EE-1DD1-00B7-81B1612AC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7628" y="2476500"/>
            <a:ext cx="6280354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8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323C9-D5F7-C820-78B9-E169BDF2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971779-1F50-1702-DEC1-87CD482189F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C4C7B-C529-5329-03AC-796804551DC1}"/>
              </a:ext>
            </a:extLst>
          </p:cNvPr>
          <p:cNvSpPr txBox="1"/>
          <p:nvPr/>
        </p:nvSpPr>
        <p:spPr>
          <a:xfrm>
            <a:off x="781292" y="590309"/>
            <a:ext cx="1548692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5782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2583</TotalTime>
  <Words>251</Words>
  <Application>Microsoft Office PowerPoint</Application>
  <PresentationFormat>Custom</PresentationFormat>
  <Paragraphs>55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Aliens &amp; cows</vt:lpstr>
      <vt:lpstr>Normafixed Tryout</vt:lpstr>
      <vt:lpstr>Calibri</vt:lpstr>
      <vt:lpstr>Pragmatica</vt:lpstr>
      <vt:lpstr>Consolas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excel-statistics-for-business-analytics</dc:title>
  <dc:creator>User</dc:creator>
  <cp:lastModifiedBy>George Mount</cp:lastModifiedBy>
  <cp:revision>230</cp:revision>
  <dcterms:created xsi:type="dcterms:W3CDTF">2006-08-16T00:00:00Z</dcterms:created>
  <dcterms:modified xsi:type="dcterms:W3CDTF">2026-04-02T17:20:37Z</dcterms:modified>
  <dc:identifier>DADurESpNu8</dc:identifier>
</cp:coreProperties>
</file>